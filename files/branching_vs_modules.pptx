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78"/>
  </p:normalViewPr>
  <p:slideViewPr>
    <p:cSldViewPr snapToGrid="0" snapToObjects="1">
      <p:cViewPr varScale="1">
        <p:scale>
          <a:sx n="150" d="100"/>
          <a:sy n="150" d="100"/>
        </p:scale>
        <p:origin x="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7215C"/>
          </a:solidFill>
          <a:ln>
            <a:solidFill>
              <a:srgbClr val="0721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What Will Actually Reduce Drift Over Time</a:t>
            </a:r>
          </a:p>
          <a:p>
            <a:pPr>
              <a:defRPr sz="900" i="1">
                <a:solidFill>
                  <a:srgbClr val="FFFFFF"/>
                </a:solidFill>
              </a:defRPr>
            </a:pPr>
            <a:r>
              <a:rPr dirty="0"/>
              <a:t>Branching is one control. Stable modules, drift discipline, and a sandbox path are the bigger remediation levers.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731520" cy="27432"/>
          </a:xfrm>
          <a:prstGeom prst="rect">
            <a:avLst/>
          </a:prstGeom>
          <a:solidFill>
            <a:srgbClr val="00DCDC"/>
          </a:solidFill>
          <a:ln>
            <a:solidFill>
              <a:srgbClr val="0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053080" y="1068491"/>
            <a:ext cx="2560320" cy="233172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53080" y="1068491"/>
            <a:ext cx="2560320" cy="256032"/>
          </a:xfrm>
          <a:prstGeom prst="rect">
            <a:avLst/>
          </a:prstGeom>
          <a:solidFill>
            <a:srgbClr val="20964A"/>
          </a:solidFill>
          <a:ln>
            <a:solidFill>
              <a:srgbClr val="209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26232" y="1086779"/>
            <a:ext cx="17551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en-US" dirty="0"/>
              <a:t>2</a:t>
            </a:r>
            <a:r>
              <a:rPr dirty="0"/>
              <a:t>. Module completeness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2808" y="1397675"/>
            <a:ext cx="23774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900"/>
            </a:pPr>
            <a:r>
              <a:rPr sz="1400" dirty="0"/>
              <a:t>Expand reusable modules to support common application needs directly</a:t>
            </a:r>
          </a:p>
          <a:p>
            <a:pPr marL="285750" indent="-285750">
              <a:buFont typeface="Arial" panose="020B0604020202020204" pitchFamily="34" charset="0"/>
              <a:buChar char="•"/>
              <a:defRPr sz="900"/>
            </a:pPr>
            <a:r>
              <a:rPr sz="1400" dirty="0"/>
              <a:t>Reduce local wrapper chains and per-app customization</a:t>
            </a:r>
          </a:p>
          <a:p>
            <a:pPr marL="285750" indent="-285750">
              <a:buFont typeface="Arial" panose="020B0604020202020204" pitchFamily="34" charset="0"/>
              <a:buChar char="•"/>
              <a:defRPr sz="900"/>
            </a:pPr>
            <a:r>
              <a:rPr sz="1400" dirty="0"/>
              <a:t>Treat module usability gaps as a root cause of drift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23128" y="1068490"/>
            <a:ext cx="2560320" cy="2341101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23128" y="1068491"/>
            <a:ext cx="2560320" cy="256032"/>
          </a:xfrm>
          <a:prstGeom prst="rect">
            <a:avLst/>
          </a:prstGeom>
          <a:solidFill>
            <a:srgbClr val="BE6418"/>
          </a:solidFill>
          <a:ln>
            <a:solidFill>
              <a:srgbClr val="BE6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96280" y="1086779"/>
            <a:ext cx="118410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en-US" dirty="0"/>
              <a:t>3</a:t>
            </a:r>
            <a:r>
              <a:rPr dirty="0"/>
              <a:t>. Drift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2856" y="1397675"/>
            <a:ext cx="23774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sz="1400" dirty="0"/>
              <a:t>Review lifecycle ignore usage and remove unnecessary exceptions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sz="1400" dirty="0"/>
              <a:t>Reduce manual infrastructure changes outside Terraform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sz="1400" dirty="0"/>
              <a:t>Add regular drift review and ownership expectations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93176" y="1068491"/>
            <a:ext cx="2596896" cy="233172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93176" y="1068491"/>
            <a:ext cx="2560320" cy="256032"/>
          </a:xfrm>
          <a:prstGeom prst="rect">
            <a:avLst/>
          </a:prstGeom>
          <a:solidFill>
            <a:srgbClr val="20964A"/>
          </a:solidFill>
          <a:ln>
            <a:solidFill>
              <a:srgbClr val="209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66328" y="1086779"/>
            <a:ext cx="174868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en-US" dirty="0"/>
              <a:t>4</a:t>
            </a:r>
            <a:r>
              <a:rPr dirty="0"/>
              <a:t>. Sandbox environment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2904" y="1397675"/>
            <a:ext cx="237744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sz="1400" dirty="0"/>
              <a:t>Create a safe environment where feature-branch testing can happen before main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sz="1400" dirty="0"/>
              <a:t>Reduce pressure to keep develop as a permanent branch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6456" y="1105067"/>
            <a:ext cx="2560320" cy="233172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09880" y="1086779"/>
            <a:ext cx="2560320" cy="256032"/>
          </a:xfrm>
          <a:prstGeom prst="rect">
            <a:avLst/>
          </a:prstGeom>
          <a:solidFill>
            <a:srgbClr val="07215C"/>
          </a:solidFill>
          <a:ln>
            <a:solidFill>
              <a:srgbClr val="0721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9880" y="1105067"/>
            <a:ext cx="153176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en-US" dirty="0"/>
              <a:t>1</a:t>
            </a:r>
            <a:r>
              <a:rPr dirty="0"/>
              <a:t>. Branching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456" y="1415963"/>
            <a:ext cx="23774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sz="1400" dirty="0"/>
              <a:t>Use develop for NP1 and main for NP2/NP3/PROD initially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sz="1400" dirty="0"/>
              <a:t>Run linting and security checks on commits and PRs</a:t>
            </a: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lang="en-US" sz="1400" dirty="0"/>
              <a:t>Future state will only use main branch for all environments</a:t>
            </a:r>
            <a:endParaRPr sz="1400" dirty="0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2D7BE9E8-D897-EB6B-7CC9-F2883D004195}"/>
              </a:ext>
            </a:extLst>
          </p:cNvPr>
          <p:cNvSpPr/>
          <p:nvPr/>
        </p:nvSpPr>
        <p:spPr>
          <a:xfrm>
            <a:off x="1941915" y="4176440"/>
            <a:ext cx="3337560" cy="246888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F2F15D0-921D-22C2-5A89-9819731647CA}"/>
              </a:ext>
            </a:extLst>
          </p:cNvPr>
          <p:cNvSpPr/>
          <p:nvPr/>
        </p:nvSpPr>
        <p:spPr>
          <a:xfrm>
            <a:off x="2015067" y="3889484"/>
            <a:ext cx="3337560" cy="256032"/>
          </a:xfrm>
          <a:prstGeom prst="rect">
            <a:avLst/>
          </a:prstGeom>
          <a:solidFill>
            <a:srgbClr val="07215C"/>
          </a:solidFill>
          <a:ln>
            <a:solidFill>
              <a:srgbClr val="0721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CF40A12-A13F-0582-F2F6-A99A7034F98F}"/>
              </a:ext>
            </a:extLst>
          </p:cNvPr>
          <p:cNvSpPr txBox="1"/>
          <p:nvPr/>
        </p:nvSpPr>
        <p:spPr>
          <a:xfrm>
            <a:off x="2197947" y="3908787"/>
            <a:ext cx="28058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/>
              <a:t>What </a:t>
            </a:r>
            <a:r>
              <a:rPr lang="en-US" dirty="0"/>
              <a:t>new </a:t>
            </a:r>
            <a:r>
              <a:rPr dirty="0"/>
              <a:t>branching</a:t>
            </a:r>
            <a:r>
              <a:rPr lang="en-US" dirty="0"/>
              <a:t> strategy</a:t>
            </a:r>
            <a:r>
              <a:rPr dirty="0"/>
              <a:t> solves now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EB5450-E6F9-BDF7-E6DD-90A6798AF334}"/>
              </a:ext>
            </a:extLst>
          </p:cNvPr>
          <p:cNvSpPr txBox="1"/>
          <p:nvPr/>
        </p:nvSpPr>
        <p:spPr>
          <a:xfrm>
            <a:off x="2124795" y="4176437"/>
            <a:ext cx="31546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000"/>
            </a:pPr>
            <a:r>
              <a:rPr sz="1400" dirty="0"/>
              <a:t>Separates lower-risk NP1 delivery from stricter higher-environment promotion</a:t>
            </a:r>
          </a:p>
          <a:p>
            <a:pPr marL="285750" indent="-285750">
              <a:buFont typeface="Arial" panose="020B0604020202020204" pitchFamily="34" charset="0"/>
              <a:buChar char="•"/>
              <a:defRPr sz="1000"/>
            </a:pPr>
            <a:r>
              <a:rPr sz="1400" dirty="0"/>
              <a:t>Creates a clearer PR and approval path</a:t>
            </a:r>
          </a:p>
          <a:p>
            <a:pPr marL="285750" indent="-285750">
              <a:buFont typeface="Arial" panose="020B0604020202020204" pitchFamily="34" charset="0"/>
              <a:buChar char="•"/>
              <a:defRPr sz="1000"/>
            </a:pPr>
            <a:r>
              <a:rPr sz="1400" dirty="0"/>
              <a:t>Reduces accidental promotion via merge and review gates</a:t>
            </a:r>
          </a:p>
          <a:p>
            <a:pPr marL="285750" indent="-285750">
              <a:buFont typeface="Arial" panose="020B0604020202020204" pitchFamily="34" charset="0"/>
              <a:buChar char="•"/>
              <a:defRPr sz="1000"/>
            </a:pPr>
            <a:r>
              <a:rPr sz="1400" dirty="0"/>
              <a:t>Supports validating delivery workflow before wider rollout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8B626AB-F31E-610F-1426-6A18C50FB9EA}"/>
              </a:ext>
            </a:extLst>
          </p:cNvPr>
          <p:cNvSpPr/>
          <p:nvPr/>
        </p:nvSpPr>
        <p:spPr>
          <a:xfrm>
            <a:off x="5471499" y="4176440"/>
            <a:ext cx="3337560" cy="246888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B0FAC69-9113-E721-22FE-A23A76EA2962}"/>
              </a:ext>
            </a:extLst>
          </p:cNvPr>
          <p:cNvSpPr/>
          <p:nvPr/>
        </p:nvSpPr>
        <p:spPr>
          <a:xfrm>
            <a:off x="5489787" y="3891178"/>
            <a:ext cx="3337560" cy="256032"/>
          </a:xfrm>
          <a:prstGeom prst="rect">
            <a:avLst/>
          </a:prstGeom>
          <a:solidFill>
            <a:srgbClr val="BE6418"/>
          </a:solidFill>
          <a:ln>
            <a:solidFill>
              <a:srgbClr val="BE6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40FA30-6B56-8CE6-E19F-42DADD89B769}"/>
              </a:ext>
            </a:extLst>
          </p:cNvPr>
          <p:cNvSpPr txBox="1"/>
          <p:nvPr/>
        </p:nvSpPr>
        <p:spPr>
          <a:xfrm>
            <a:off x="5599515" y="3908787"/>
            <a:ext cx="302262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/>
              <a:t>What </a:t>
            </a:r>
            <a:r>
              <a:rPr lang="en-US" dirty="0"/>
              <a:t>new </a:t>
            </a:r>
            <a:r>
              <a:rPr dirty="0"/>
              <a:t>branching </a:t>
            </a:r>
            <a:r>
              <a:rPr lang="en-US" dirty="0"/>
              <a:t>strategy </a:t>
            </a:r>
            <a:r>
              <a:rPr dirty="0"/>
              <a:t>does not solve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F67EF0-76DE-18A9-B84E-E0B9A194349A}"/>
              </a:ext>
            </a:extLst>
          </p:cNvPr>
          <p:cNvSpPr txBox="1"/>
          <p:nvPr/>
        </p:nvSpPr>
        <p:spPr>
          <a:xfrm>
            <a:off x="5599515" y="4176437"/>
            <a:ext cx="31546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000"/>
            </a:pPr>
            <a:r>
              <a:rPr sz="1400" dirty="0"/>
              <a:t>Incomplete Terraform modules requiring local wrappers</a:t>
            </a:r>
          </a:p>
          <a:p>
            <a:pPr marL="285750" indent="-285750">
              <a:buFont typeface="Arial" panose="020B0604020202020204" pitchFamily="34" charset="0"/>
              <a:buChar char="•"/>
              <a:defRPr sz="1000"/>
            </a:pPr>
            <a:r>
              <a:rPr sz="1400" dirty="0"/>
              <a:t>Lifecycle ignore patterns and manual portal changes</a:t>
            </a:r>
          </a:p>
          <a:p>
            <a:pPr marL="285750" indent="-285750">
              <a:buFont typeface="Arial" panose="020B0604020202020204" pitchFamily="34" charset="0"/>
              <a:buChar char="•"/>
              <a:defRPr sz="1000"/>
            </a:pPr>
            <a:r>
              <a:rPr sz="1400" dirty="0"/>
              <a:t>Missing reusable patterns and app-specific dependencies</a:t>
            </a:r>
          </a:p>
          <a:p>
            <a:pPr marL="285750" indent="-285750">
              <a:buFont typeface="Arial" panose="020B0604020202020204" pitchFamily="34" charset="0"/>
              <a:buChar char="•"/>
              <a:defRPr sz="1000"/>
            </a:pPr>
            <a:r>
              <a:rPr sz="1400" dirty="0"/>
              <a:t>Environment-specific configuration debt outside branching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5E4B369-CC97-DBC7-A24F-0A75CA027D75}"/>
              </a:ext>
            </a:extLst>
          </p:cNvPr>
          <p:cNvSpPr/>
          <p:nvPr/>
        </p:nvSpPr>
        <p:spPr>
          <a:xfrm>
            <a:off x="480568" y="2028955"/>
            <a:ext cx="10552176" cy="2240279"/>
          </a:xfrm>
          <a:prstGeom prst="roundRect">
            <a:avLst/>
          </a:prstGeom>
          <a:solidFill>
            <a:srgbClr val="F8F8F8"/>
          </a:solidFill>
          <a:ln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92ED657-8B98-E391-88B9-B3BCA05B115A}"/>
              </a:ext>
            </a:extLst>
          </p:cNvPr>
          <p:cNvSpPr/>
          <p:nvPr/>
        </p:nvSpPr>
        <p:spPr>
          <a:xfrm>
            <a:off x="480568" y="2028955"/>
            <a:ext cx="10552176" cy="2240279"/>
          </a:xfrm>
          <a:prstGeom prst="roundRect">
            <a:avLst/>
          </a:prstGeom>
          <a:solidFill>
            <a:srgbClr val="F8F8F8"/>
          </a:solidFill>
          <a:ln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5969FD-0081-0EB7-B917-FA754A60C050}"/>
              </a:ext>
            </a:extLst>
          </p:cNvPr>
          <p:cNvSpPr txBox="1"/>
          <p:nvPr/>
        </p:nvSpPr>
        <p:spPr>
          <a:xfrm>
            <a:off x="645160" y="1473152"/>
            <a:ext cx="6371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rPr sz="2000" dirty="0"/>
              <a:t>Recommend</a:t>
            </a:r>
            <a:r>
              <a:rPr lang="en-US" sz="2000" dirty="0"/>
              <a:t>ation for </a:t>
            </a:r>
            <a:r>
              <a:rPr sz="2000" dirty="0"/>
              <a:t>the PoC and follow-on work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8711467-735C-99E5-2AFE-9175CA27D9E5}"/>
              </a:ext>
            </a:extLst>
          </p:cNvPr>
          <p:cNvSpPr/>
          <p:nvPr/>
        </p:nvSpPr>
        <p:spPr>
          <a:xfrm>
            <a:off x="645160" y="2338493"/>
            <a:ext cx="2304288" cy="1435606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55286F-5827-ED24-B378-4F73479CC3B1}"/>
              </a:ext>
            </a:extLst>
          </p:cNvPr>
          <p:cNvSpPr/>
          <p:nvPr/>
        </p:nvSpPr>
        <p:spPr>
          <a:xfrm>
            <a:off x="645160" y="2091605"/>
            <a:ext cx="2240280" cy="256032"/>
          </a:xfrm>
          <a:prstGeom prst="rect">
            <a:avLst/>
          </a:prstGeom>
          <a:solidFill>
            <a:srgbClr val="07215C"/>
          </a:solidFill>
          <a:ln>
            <a:solidFill>
              <a:srgbClr val="0721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E63964-7E7C-164E-5753-413F28CCB1E7}"/>
              </a:ext>
            </a:extLst>
          </p:cNvPr>
          <p:cNvSpPr txBox="1"/>
          <p:nvPr/>
        </p:nvSpPr>
        <p:spPr>
          <a:xfrm>
            <a:off x="718312" y="2109893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Now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3D4A5F-B97F-D5B5-B4DF-7414DC97D07E}"/>
              </a:ext>
            </a:extLst>
          </p:cNvPr>
          <p:cNvSpPr txBox="1"/>
          <p:nvPr/>
        </p:nvSpPr>
        <p:spPr>
          <a:xfrm>
            <a:off x="754888" y="2420789"/>
            <a:ext cx="203064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/>
            </a:pPr>
            <a:r>
              <a:rPr sz="1400" dirty="0"/>
              <a:t>Run the PoC to validate branching, PR flow, and pipeline mechanics.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59608F6-0404-D31E-4F11-00E7BA683C64}"/>
              </a:ext>
            </a:extLst>
          </p:cNvPr>
          <p:cNvSpPr/>
          <p:nvPr/>
        </p:nvSpPr>
        <p:spPr>
          <a:xfrm>
            <a:off x="3159760" y="2091605"/>
            <a:ext cx="2240280" cy="1682494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4C6FA8-A4BD-9A35-6AA9-44BA6F9CD678}"/>
              </a:ext>
            </a:extLst>
          </p:cNvPr>
          <p:cNvSpPr/>
          <p:nvPr/>
        </p:nvSpPr>
        <p:spPr>
          <a:xfrm>
            <a:off x="3159760" y="2091605"/>
            <a:ext cx="2240280" cy="256032"/>
          </a:xfrm>
          <a:prstGeom prst="rect">
            <a:avLst/>
          </a:prstGeom>
          <a:solidFill>
            <a:srgbClr val="20964A"/>
          </a:solidFill>
          <a:ln>
            <a:solidFill>
              <a:srgbClr val="209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F75D9C-2131-A6CA-AA29-25E0242BD818}"/>
              </a:ext>
            </a:extLst>
          </p:cNvPr>
          <p:cNvSpPr txBox="1"/>
          <p:nvPr/>
        </p:nvSpPr>
        <p:spPr>
          <a:xfrm>
            <a:off x="3232912" y="2109893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Next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4FE647-9EA6-FF23-F993-2009D33E1EAA}"/>
              </a:ext>
            </a:extLst>
          </p:cNvPr>
          <p:cNvSpPr txBox="1"/>
          <p:nvPr/>
        </p:nvSpPr>
        <p:spPr>
          <a:xfrm>
            <a:off x="3269488" y="2420789"/>
            <a:ext cx="2057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/>
            </a:pPr>
            <a:r>
              <a:rPr sz="1400" dirty="0"/>
              <a:t>Use findings to size remediation of incomplete modules and drift controls.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F6BF83-E1AE-08C1-F7C6-1FAD8536B61A}"/>
              </a:ext>
            </a:extLst>
          </p:cNvPr>
          <p:cNvSpPr/>
          <p:nvPr/>
        </p:nvSpPr>
        <p:spPr>
          <a:xfrm>
            <a:off x="5674360" y="2091604"/>
            <a:ext cx="2240280" cy="1673589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A43DA6-9264-2C4A-FFB3-C3AECE69EA80}"/>
              </a:ext>
            </a:extLst>
          </p:cNvPr>
          <p:cNvSpPr/>
          <p:nvPr/>
        </p:nvSpPr>
        <p:spPr>
          <a:xfrm>
            <a:off x="5674360" y="2091605"/>
            <a:ext cx="2240280" cy="256032"/>
          </a:xfrm>
          <a:prstGeom prst="rect">
            <a:avLst/>
          </a:prstGeom>
          <a:solidFill>
            <a:srgbClr val="20964A"/>
          </a:solidFill>
          <a:ln>
            <a:solidFill>
              <a:srgbClr val="209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934681-EE9D-E2E8-E30E-AD251C968A3F}"/>
              </a:ext>
            </a:extLst>
          </p:cNvPr>
          <p:cNvSpPr txBox="1"/>
          <p:nvPr/>
        </p:nvSpPr>
        <p:spPr>
          <a:xfrm>
            <a:off x="5747512" y="2109893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Then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B4DF14-5E6D-16A4-9C5F-CEA18272AA1B}"/>
              </a:ext>
            </a:extLst>
          </p:cNvPr>
          <p:cNvSpPr txBox="1"/>
          <p:nvPr/>
        </p:nvSpPr>
        <p:spPr>
          <a:xfrm>
            <a:off x="5784088" y="2420789"/>
            <a:ext cx="2057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/>
            </a:pPr>
            <a:r>
              <a:rPr sz="1400" dirty="0"/>
              <a:t>Build or improve reusable modules so common app patterns are directly supported.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6E3BBC6-B7C0-EF95-EBCC-375F529B6E25}"/>
              </a:ext>
            </a:extLst>
          </p:cNvPr>
          <p:cNvSpPr/>
          <p:nvPr/>
        </p:nvSpPr>
        <p:spPr>
          <a:xfrm>
            <a:off x="8188960" y="2091605"/>
            <a:ext cx="2240280" cy="1673588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A6D776-B2D5-8683-27E9-79F43A9ED7C5}"/>
              </a:ext>
            </a:extLst>
          </p:cNvPr>
          <p:cNvSpPr/>
          <p:nvPr/>
        </p:nvSpPr>
        <p:spPr>
          <a:xfrm>
            <a:off x="8188960" y="2091605"/>
            <a:ext cx="2240280" cy="256032"/>
          </a:xfrm>
          <a:prstGeom prst="rect">
            <a:avLst/>
          </a:prstGeom>
          <a:solidFill>
            <a:srgbClr val="07215C"/>
          </a:solidFill>
          <a:ln>
            <a:solidFill>
              <a:srgbClr val="0721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3211D5-90D8-B643-8233-5BD0346A7E7F}"/>
              </a:ext>
            </a:extLst>
          </p:cNvPr>
          <p:cNvSpPr txBox="1"/>
          <p:nvPr/>
        </p:nvSpPr>
        <p:spPr>
          <a:xfrm>
            <a:off x="8262112" y="2109893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Target state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C4E414-A8A5-0B10-FCA6-6F62F4DD4B3D}"/>
              </a:ext>
            </a:extLst>
          </p:cNvPr>
          <p:cNvSpPr txBox="1"/>
          <p:nvPr/>
        </p:nvSpPr>
        <p:spPr>
          <a:xfrm>
            <a:off x="8298688" y="2420789"/>
            <a:ext cx="20574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/>
            </a:pPr>
            <a:r>
              <a:rPr sz="1400" dirty="0"/>
              <a:t>Retire develop when sandbox testing and module completeness make trunk-based delivery practical.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C63394-D638-6F2C-C41E-46C83C08047F}"/>
              </a:ext>
            </a:extLst>
          </p:cNvPr>
          <p:cNvSpPr/>
          <p:nvPr/>
        </p:nvSpPr>
        <p:spPr>
          <a:xfrm>
            <a:off x="462280" y="4378961"/>
            <a:ext cx="10570464" cy="377613"/>
          </a:xfrm>
          <a:prstGeom prst="rect">
            <a:avLst/>
          </a:prstGeom>
          <a:solidFill>
            <a:srgbClr val="07215C"/>
          </a:solidFill>
          <a:ln>
            <a:solidFill>
              <a:srgbClr val="0721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9E356B-D7E0-1EA1-C37A-AD31A080DD88}"/>
              </a:ext>
            </a:extLst>
          </p:cNvPr>
          <p:cNvSpPr txBox="1"/>
          <p:nvPr/>
        </p:nvSpPr>
        <p:spPr>
          <a:xfrm>
            <a:off x="718312" y="4470401"/>
            <a:ext cx="100025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FFFFF"/>
                </a:solidFill>
              </a:defRPr>
            </a:pPr>
            <a:r>
              <a:rPr lang="en-US" sz="1200" dirty="0"/>
              <a:t>T</a:t>
            </a:r>
            <a:r>
              <a:rPr sz="1200" dirty="0"/>
              <a:t>akeaway: use branching to stabilize promotion now; reduce drift through better modules, stricter Terraform discipline, and a real sandbox path.</a:t>
            </a:r>
          </a:p>
        </p:txBody>
      </p:sp>
    </p:spTree>
    <p:extLst>
      <p:ext uri="{BB962C8B-B14F-4D97-AF65-F5344CB8AC3E}">
        <p14:creationId xmlns:p14="http://schemas.microsoft.com/office/powerpoint/2010/main" val="1355657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923</TotalTime>
  <Words>301</Words>
  <Application>Microsoft Macintosh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Lyonga, Charles</cp:lastModifiedBy>
  <cp:revision>7</cp:revision>
  <dcterms:created xsi:type="dcterms:W3CDTF">2013-01-27T09:14:16Z</dcterms:created>
  <dcterms:modified xsi:type="dcterms:W3CDTF">2026-05-08T13:19:20Z</dcterms:modified>
  <cp:category/>
</cp:coreProperties>
</file>