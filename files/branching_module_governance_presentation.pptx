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8" r:id="rId3"/>
    <p:sldId id="256" r:id="rId4"/>
    <p:sldId id="257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78"/>
  </p:normalViewPr>
  <p:slideViewPr>
    <p:cSldViewPr snapToGrid="0" snapToObjects="1">
      <p:cViewPr varScale="1">
        <p:scale>
          <a:sx n="150" d="100"/>
          <a:sy n="150" d="100"/>
        </p:scale>
        <p:origin x="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FF6749-2126-E787-10D5-B8AC11364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60" y="5727315"/>
            <a:ext cx="2705100" cy="7281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22A28F-E2D5-0C5B-76F1-304BBC2B5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16" y="245533"/>
            <a:ext cx="1638300" cy="3048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1C08F90-1438-923A-296F-4C6E94695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9120909" cy="1143000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002060"/>
                </a:solidFill>
              </a:rPr>
              <a:t>Branching Strategy and Pull Request Sign-off Process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AAB839-12A3-408A-FFB8-EB4F2BAB7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316" y="1856509"/>
            <a:ext cx="9120908" cy="4506720"/>
          </a:xfrm>
        </p:spPr>
        <p:txBody>
          <a:bodyPr/>
          <a:lstStyle/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/>
              <a:t>Prepared by</a:t>
            </a:r>
          </a:p>
          <a:p>
            <a:pPr marL="0" indent="0" algn="ctr" fontAlgn="base">
              <a:buNone/>
            </a:pPr>
            <a:r>
              <a:rPr lang="en-US" sz="2000" b="1" dirty="0"/>
              <a:t>Capgemini Cloud Foundations Team</a:t>
            </a:r>
            <a:r>
              <a:rPr lang="en-US" sz="2000" dirty="0"/>
              <a:t> </a:t>
            </a:r>
          </a:p>
          <a:p>
            <a:pPr marL="0" indent="0" algn="ctr" fontAlgn="base">
              <a:buNone/>
            </a:pPr>
            <a:r>
              <a:rPr lang="en-US" sz="2000" dirty="0"/>
              <a:t>May 2026 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63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C2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Shared Module Isolation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289374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 dirty="0">
                <a:solidFill>
                  <a:srgbClr val="C4E0FF"/>
                </a:solidFill>
                <a:latin typeface="Aptos"/>
              </a:rPr>
              <a:t>The issue is module consumability</a:t>
            </a:r>
            <a:r>
              <a:rPr lang="en-US" sz="900" i="1" dirty="0">
                <a:solidFill>
                  <a:srgbClr val="C4E0FF"/>
                </a:solidFill>
                <a:latin typeface="Aptos"/>
              </a:rPr>
              <a:t> by code not version</a:t>
            </a:r>
            <a:endParaRPr sz="900" i="1" dirty="0">
              <a:solidFill>
                <a:srgbClr val="C4E0FF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0040" y="621792"/>
            <a:ext cx="594360" cy="3657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545336"/>
            <a:ext cx="3511296" cy="471830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657600" cy="292608"/>
          </a:xfrm>
          <a:prstGeom prst="rect">
            <a:avLst/>
          </a:prstGeom>
          <a:solidFill>
            <a:srgbClr val="0C2A61"/>
          </a:solidFill>
          <a:ln>
            <a:solidFill>
              <a:srgbClr val="0C2A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1" y="1179576"/>
            <a:ext cx="35234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What the issue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64266"/>
            <a:ext cx="3271181" cy="2734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1C2026"/>
                </a:solidFill>
                <a:latin typeface="Aptos"/>
              </a:defRPr>
            </a:pPr>
            <a:r>
              <a:rPr dirty="0"/>
              <a:t>Shared Terraform modules are consumed from local paths in the same repo and branch.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1C2026"/>
                </a:solidFill>
                <a:latin typeface="Aptos"/>
              </a:defRPr>
            </a:pPr>
            <a:r>
              <a:rPr dirty="0"/>
              <a:t>A module change merged to that branch becomes available to every environment that references that path.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1C2026"/>
                </a:solidFill>
                <a:latin typeface="Aptos"/>
              </a:defRPr>
            </a:pPr>
            <a:r>
              <a:rPr dirty="0"/>
              <a:t>Availability therefore changes immediately, even before any explicit promotion decision is made.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545336"/>
            <a:ext cx="3611880" cy="471830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61104" y="1143000"/>
            <a:ext cx="3657600" cy="292608"/>
          </a:xfrm>
          <a:prstGeom prst="rect">
            <a:avLst/>
          </a:prstGeom>
          <a:solidFill>
            <a:srgbClr val="0C2A61"/>
          </a:solidFill>
          <a:ln>
            <a:solidFill>
              <a:srgbClr val="0C2A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34256" y="1179576"/>
            <a:ext cx="3511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Why that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696" y="1964266"/>
            <a:ext cx="3262037" cy="2503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1C2026"/>
                </a:solidFill>
                <a:latin typeface="Aptos"/>
              </a:defRPr>
            </a:pPr>
            <a:r>
              <a:rPr dirty="0"/>
              <a:t>Production hotfixes may unintentionally absorb unrelated module changes.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1C2026"/>
                </a:solidFill>
                <a:latin typeface="Aptos"/>
              </a:defRPr>
            </a:pPr>
            <a:r>
              <a:rPr dirty="0"/>
              <a:t>Promotion of shared-module behavior becomes implicit rather than deliberate.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1C2026"/>
                </a:solidFill>
                <a:latin typeface="Aptos"/>
              </a:defRPr>
            </a:pPr>
            <a:r>
              <a:rPr dirty="0"/>
              <a:t>Auditability is weaker because production consumption depends on branch contents, not an explicit module release.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1545336"/>
            <a:ext cx="3364992" cy="471830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56448" y="1143000"/>
            <a:ext cx="3611880" cy="292608"/>
          </a:xfrm>
          <a:prstGeom prst="rect">
            <a:avLst/>
          </a:prstGeom>
          <a:solidFill>
            <a:srgbClr val="0C2A61"/>
          </a:solidFill>
          <a:ln>
            <a:solidFill>
              <a:srgbClr val="0C2A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179576"/>
            <a:ext cx="34655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Design principle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64266"/>
            <a:ext cx="301752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1C2026"/>
                </a:solidFill>
                <a:latin typeface="Aptos"/>
              </a:defRPr>
            </a:pPr>
            <a:r>
              <a:rPr dirty="0"/>
              <a:t>Availability of </a:t>
            </a:r>
            <a:r>
              <a:rPr lang="en-US" dirty="0"/>
              <a:t>shared </a:t>
            </a:r>
            <a:r>
              <a:rPr dirty="0"/>
              <a:t>module code </a:t>
            </a:r>
            <a:r>
              <a:rPr lang="en-US" dirty="0"/>
              <a:t>should</a:t>
            </a:r>
            <a:r>
              <a:rPr dirty="0"/>
              <a:t> not </a:t>
            </a:r>
            <a:r>
              <a:rPr lang="en-US" dirty="0"/>
              <a:t>implicitly mean </a:t>
            </a:r>
            <a:r>
              <a:rPr dirty="0"/>
              <a:t>module consumption.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1C2026"/>
                </a:solidFill>
                <a:latin typeface="Aptos"/>
              </a:defRPr>
            </a:pPr>
            <a:r>
              <a:rPr dirty="0"/>
              <a:t>Version pinning is what creates real production isolation.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1C2026"/>
                </a:solidFill>
                <a:latin typeface="Aptos"/>
              </a:defRPr>
            </a:pPr>
            <a:r>
              <a:rPr dirty="0"/>
              <a:t>Environments should consume only the module version they explicitly reference.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4370832"/>
            <a:ext cx="3017520" cy="1005840"/>
          </a:xfrm>
          <a:prstGeom prst="roundRect">
            <a:avLst/>
          </a:prstGeom>
          <a:solidFill>
            <a:srgbClr val="F0F9F4"/>
          </a:solidFill>
          <a:ln w="15240">
            <a:solidFill>
              <a:srgbClr val="52B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13648" y="4526280"/>
            <a:ext cx="358303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1C2026"/>
                </a:solidFill>
                <a:latin typeface="Courier New"/>
              </a:defRPr>
            </a:pPr>
            <a:r>
              <a:rPr dirty="0"/>
              <a:t>module "</a:t>
            </a:r>
            <a:r>
              <a:rPr dirty="0" err="1"/>
              <a:t>windows_web_app</a:t>
            </a:r>
            <a:r>
              <a:rPr dirty="0"/>
              <a:t>" {</a:t>
            </a:r>
          </a:p>
          <a:p>
            <a:pPr>
              <a:spcAft>
                <a:spcPts val="0"/>
              </a:spcAft>
              <a:defRPr sz="1100">
                <a:solidFill>
                  <a:srgbClr val="1C2026"/>
                </a:solidFill>
                <a:latin typeface="Courier New"/>
              </a:defRPr>
            </a:pPr>
            <a:r>
              <a:rPr dirty="0"/>
              <a:t>source  = "</a:t>
            </a:r>
            <a:r>
              <a:rPr dirty="0" err="1"/>
              <a:t>app.terraform.io</a:t>
            </a:r>
            <a:r>
              <a:rPr dirty="0"/>
              <a:t>/.../</a:t>
            </a:r>
            <a:r>
              <a:rPr dirty="0" err="1"/>
              <a:t>azurerm</a:t>
            </a:r>
            <a:r>
              <a:rPr dirty="0"/>
              <a:t>"</a:t>
            </a:r>
          </a:p>
          <a:p>
            <a:pPr>
              <a:spcAft>
                <a:spcPts val="0"/>
              </a:spcAft>
              <a:defRPr sz="1100">
                <a:solidFill>
                  <a:srgbClr val="1C2026"/>
                </a:solidFill>
                <a:latin typeface="Courier New"/>
              </a:defRPr>
            </a:pPr>
            <a:r>
              <a:rPr dirty="0"/>
              <a:t>version = "1.2"</a:t>
            </a:r>
          </a:p>
          <a:p>
            <a:pPr>
              <a:spcAft>
                <a:spcPts val="0"/>
              </a:spcAft>
              <a:defRPr sz="1100">
                <a:solidFill>
                  <a:srgbClr val="1C2026"/>
                </a:solidFill>
                <a:latin typeface="Courier New"/>
              </a:defRPr>
            </a:pPr>
            <a:r>
              <a:rPr dirty="0"/>
              <a:t>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6382512"/>
            <a:ext cx="11384280" cy="201168"/>
          </a:xfrm>
          <a:prstGeom prst="rect">
            <a:avLst/>
          </a:prstGeom>
          <a:solidFill>
            <a:srgbClr val="0C2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2692" y="6336792"/>
            <a:ext cx="111675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FFFFFF"/>
                </a:solidFill>
                <a:latin typeface="Aptos"/>
              </a:rPr>
              <a:t>Key principle: module availability is not the same as module consumption. Version pinning is what creates true production isolation.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88" y="-82295"/>
            <a:ext cx="12191695" cy="731520"/>
          </a:xfrm>
          <a:prstGeom prst="rect">
            <a:avLst/>
          </a:prstGeom>
          <a:solidFill>
            <a:srgbClr val="0C2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641585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FFFFFF"/>
                </a:solidFill>
                <a:latin typeface="Aptos"/>
              </a:rPr>
              <a:t>Branching, Module Isolation, and PR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21792"/>
            <a:ext cx="594360" cy="3657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1" y="722376"/>
            <a:ext cx="1709928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dirty="0">
                <a:solidFill>
                  <a:srgbClr val="1C2026"/>
                </a:solidFill>
                <a:latin typeface="Aptos"/>
              </a:rPr>
              <a:t>Recommended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78409"/>
            <a:ext cx="1094909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606A7A"/>
                </a:solidFill>
                <a:latin typeface="Aptos"/>
              </a:rPr>
              <a:t>Use</a:t>
            </a:r>
            <a:r>
              <a:rPr sz="1100" dirty="0">
                <a:solidFill>
                  <a:srgbClr val="606A7A"/>
                </a:solidFill>
                <a:latin typeface="Aptos"/>
              </a:rPr>
              <a:t> the </a:t>
            </a:r>
            <a:r>
              <a:rPr lang="en-US" sz="1100" dirty="0">
                <a:solidFill>
                  <a:srgbClr val="606A7A"/>
                </a:solidFill>
                <a:latin typeface="Aptos"/>
              </a:rPr>
              <a:t>develop branch for np1 as</a:t>
            </a:r>
            <a:r>
              <a:rPr sz="1100" dirty="0">
                <a:solidFill>
                  <a:srgbClr val="606A7A"/>
                </a:solidFill>
                <a:latin typeface="Aptos"/>
              </a:rPr>
              <a:t> interim model, </a:t>
            </a:r>
            <a:r>
              <a:rPr lang="en-US" sz="1100" dirty="0">
                <a:solidFill>
                  <a:srgbClr val="606A7A"/>
                </a:solidFill>
                <a:latin typeface="Aptos"/>
              </a:rPr>
              <a:t>then for long-term,</a:t>
            </a:r>
            <a:r>
              <a:rPr sz="1100" dirty="0">
                <a:solidFill>
                  <a:srgbClr val="606A7A"/>
                </a:solidFill>
                <a:latin typeface="Aptos"/>
              </a:rPr>
              <a:t> isolate shared-module consumption through explicit versioning rather than shared local branch contents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325880"/>
            <a:ext cx="178308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10996" y="1225296"/>
            <a:ext cx="201168" cy="201168"/>
          </a:xfrm>
          <a:prstGeom prst="ellipse">
            <a:avLst/>
          </a:prstGeom>
          <a:solidFill>
            <a:srgbClr val="0C2A61"/>
          </a:solidFill>
          <a:ln>
            <a:solidFill>
              <a:srgbClr val="0C2A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0996" y="1234440"/>
            <a:ext cx="201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244" y="1444752"/>
            <a:ext cx="146867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1C2026"/>
                </a:solidFill>
                <a:latin typeface="Aptos"/>
              </a:rPr>
              <a:t>Developer raises PR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1" y="1783080"/>
            <a:ext cx="1654799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dirty="0">
                <a:solidFill>
                  <a:srgbClr val="606A7A"/>
                </a:solidFill>
                <a:latin typeface="Aptos"/>
              </a:rPr>
              <a:t>Code change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03120" y="1655064"/>
            <a:ext cx="118872" cy="0"/>
          </a:xfrm>
          <a:prstGeom prst="line">
            <a:avLst/>
          </a:prstGeom>
          <a:ln w="3175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267712" y="1325880"/>
            <a:ext cx="178308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058668" y="1225296"/>
            <a:ext cx="201168" cy="201168"/>
          </a:xfrm>
          <a:prstGeom prst="ellipse">
            <a:avLst/>
          </a:prstGeom>
          <a:solidFill>
            <a:srgbClr val="0C2A61"/>
          </a:solidFill>
          <a:ln>
            <a:solidFill>
              <a:srgbClr val="0C2A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58668" y="1234440"/>
            <a:ext cx="201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433" y="1444752"/>
            <a:ext cx="134363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1C2026"/>
                </a:solidFill>
                <a:latin typeface="Aptos"/>
              </a:rPr>
              <a:t>Review + merge to
develop/main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40864" y="1783081"/>
            <a:ext cx="1621067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dirty="0">
                <a:solidFill>
                  <a:srgbClr val="606A7A"/>
                </a:solidFill>
                <a:latin typeface="Aptos"/>
              </a:rPr>
              <a:t>Branch-specific controls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50792" y="1655064"/>
            <a:ext cx="118872" cy="0"/>
          </a:xfrm>
          <a:prstGeom prst="line">
            <a:avLst/>
          </a:prstGeom>
          <a:ln w="3175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215384" y="1325880"/>
            <a:ext cx="178308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006340" y="1225296"/>
            <a:ext cx="201168" cy="201168"/>
          </a:xfrm>
          <a:prstGeom prst="ellipse">
            <a:avLst/>
          </a:prstGeom>
          <a:solidFill>
            <a:srgbClr val="0C2A61"/>
          </a:solidFill>
          <a:ln>
            <a:solidFill>
              <a:srgbClr val="0C2A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06340" y="1234440"/>
            <a:ext cx="201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7397" y="1444752"/>
            <a:ext cx="1459054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1C2026"/>
                </a:solidFill>
                <a:latin typeface="Aptos"/>
              </a:rPr>
              <a:t>NP1 uses develop;
NP2/NP3/PROD use
main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8536" y="1980462"/>
            <a:ext cx="15479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dirty="0">
                <a:solidFill>
                  <a:srgbClr val="606A7A"/>
                </a:solidFill>
                <a:latin typeface="Aptos"/>
              </a:rPr>
              <a:t>Interim branch split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98464" y="1655064"/>
            <a:ext cx="118872" cy="0"/>
          </a:xfrm>
          <a:prstGeom prst="line">
            <a:avLst/>
          </a:prstGeom>
          <a:ln w="3175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163056" y="1325880"/>
            <a:ext cx="178308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954012" y="1225296"/>
            <a:ext cx="201168" cy="201168"/>
          </a:xfrm>
          <a:prstGeom prst="ellipse">
            <a:avLst/>
          </a:prstGeom>
          <a:solidFill>
            <a:srgbClr val="0C2A61"/>
          </a:solidFill>
          <a:ln>
            <a:solidFill>
              <a:srgbClr val="0C2A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54012" y="1234440"/>
            <a:ext cx="201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31908" y="1444752"/>
            <a:ext cx="184537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1C2026"/>
                </a:solidFill>
                <a:latin typeface="Aptos"/>
              </a:rPr>
              <a:t>Shared modules called by
explicit version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7243" y="1783080"/>
            <a:ext cx="1274709" cy="227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dirty="0">
                <a:solidFill>
                  <a:srgbClr val="606A7A"/>
                </a:solidFill>
                <a:latin typeface="Aptos"/>
              </a:rPr>
              <a:t>Registry </a:t>
            </a:r>
            <a:r>
              <a:rPr lang="en-US" sz="880" dirty="0">
                <a:solidFill>
                  <a:srgbClr val="606A7A"/>
                </a:solidFill>
                <a:latin typeface="Aptos"/>
              </a:rPr>
              <a:t>+ lower config</a:t>
            </a:r>
            <a:endParaRPr sz="880" dirty="0">
              <a:solidFill>
                <a:srgbClr val="606A7A"/>
              </a:solidFill>
              <a:latin typeface="Aptos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7946136" y="1655064"/>
            <a:ext cx="118872" cy="0"/>
          </a:xfrm>
          <a:prstGeom prst="line">
            <a:avLst/>
          </a:prstGeom>
          <a:ln w="3175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110728" y="1325880"/>
            <a:ext cx="178308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901684" y="1225296"/>
            <a:ext cx="201168" cy="201168"/>
          </a:xfrm>
          <a:prstGeom prst="ellipse">
            <a:avLst/>
          </a:prstGeom>
          <a:solidFill>
            <a:srgbClr val="0C2A61"/>
          </a:solidFill>
          <a:ln>
            <a:solidFill>
              <a:srgbClr val="0C2A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01684" y="1234440"/>
            <a:ext cx="201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4044" y="1444752"/>
            <a:ext cx="177644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1C2026"/>
                </a:solidFill>
                <a:latin typeface="Aptos"/>
              </a:rPr>
              <a:t>Applies stay gated;
PROD remains restricted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1783080"/>
            <a:ext cx="163677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>
                <a:solidFill>
                  <a:srgbClr val="606A7A"/>
                </a:solidFill>
                <a:latin typeface="Aptos"/>
              </a:rPr>
              <a:t>Manual apply + approvers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0040" y="2962656"/>
            <a:ext cx="5669280" cy="26700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50051" y="2562134"/>
            <a:ext cx="5486400" cy="292608"/>
          </a:xfrm>
          <a:prstGeom prst="rect">
            <a:avLst/>
          </a:prstGeom>
          <a:solidFill>
            <a:srgbClr val="0C2A61"/>
          </a:solidFill>
          <a:ln>
            <a:solidFill>
              <a:srgbClr val="0C2A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93191" y="2572805"/>
            <a:ext cx="5486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FFFFFF"/>
                </a:solidFill>
                <a:latin typeface="Aptos"/>
              </a:rPr>
              <a:t>Interim operating 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" y="3429000"/>
            <a:ext cx="53218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1C2026"/>
                </a:solidFill>
                <a:latin typeface="Aptos"/>
              </a:defRPr>
            </a:pPr>
            <a:r>
              <a:rPr lang="en-US" sz="1400" dirty="0"/>
              <a:t>D</a:t>
            </a:r>
            <a:r>
              <a:rPr sz="1400" dirty="0"/>
              <a:t>evelop</a:t>
            </a:r>
            <a:r>
              <a:rPr lang="en-US" sz="1400" dirty="0"/>
              <a:t> branch</a:t>
            </a:r>
            <a:r>
              <a:rPr sz="1400" dirty="0"/>
              <a:t> governs NP1 only for faster iteration and lower review friction.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1C2026"/>
                </a:solidFill>
                <a:latin typeface="Aptos"/>
              </a:defRPr>
            </a:pPr>
            <a:r>
              <a:rPr sz="1400" dirty="0"/>
              <a:t>main governs NP2, NP3, and PROD and is treated as production-ready code.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1C2026"/>
                </a:solidFill>
                <a:latin typeface="Aptos"/>
              </a:defRPr>
            </a:pPr>
            <a:r>
              <a:rPr sz="1400" dirty="0"/>
              <a:t>Self-approval is allowed on develop</a:t>
            </a:r>
            <a:r>
              <a:rPr lang="en-US" sz="1400" dirty="0"/>
              <a:t> and </a:t>
            </a:r>
            <a:r>
              <a:rPr sz="1400" dirty="0"/>
              <a:t>prohibited on main.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1C2026"/>
                </a:solidFill>
                <a:latin typeface="Aptos"/>
              </a:defRPr>
            </a:pPr>
            <a:r>
              <a:rPr sz="1400" dirty="0"/>
              <a:t>All applies remain manual; PROD stays restricted to approved operators.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89320" y="2972021"/>
            <a:ext cx="5669280" cy="26700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989320" y="2537348"/>
            <a:ext cx="5715000" cy="328963"/>
          </a:xfrm>
          <a:prstGeom prst="rect">
            <a:avLst/>
          </a:prstGeom>
          <a:solidFill>
            <a:srgbClr val="0C2A61"/>
          </a:solidFill>
          <a:ln>
            <a:solidFill>
              <a:srgbClr val="0C2A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062472" y="2569241"/>
            <a:ext cx="564184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FFFFFF"/>
                </a:solidFill>
                <a:latin typeface="Aptos"/>
              </a:rPr>
              <a:t>Strategic target state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53912" y="3273331"/>
            <a:ext cx="5321808" cy="2021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1C2026"/>
                </a:solidFill>
                <a:latin typeface="Aptos"/>
              </a:defRPr>
            </a:pPr>
            <a:r>
              <a:rPr sz="1400" dirty="0"/>
              <a:t>Retire local shared-module consumption.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1C2026"/>
                </a:solidFill>
                <a:latin typeface="Aptos"/>
              </a:defRPr>
            </a:pPr>
            <a:r>
              <a:rPr sz="1400" dirty="0"/>
              <a:t>Consume private-registry modules directly from environment roots.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1C2026"/>
                </a:solidFill>
                <a:latin typeface="Aptos"/>
              </a:defRPr>
            </a:pPr>
            <a:r>
              <a:rPr sz="1400" dirty="0"/>
              <a:t>Pin module versions explicitly for controlled promotion.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1C2026"/>
                </a:solidFill>
                <a:latin typeface="Aptos"/>
              </a:defRPr>
            </a:pPr>
            <a:r>
              <a:rPr sz="1400" dirty="0"/>
              <a:t>Move toward fully trunk-based delivery once sandbox testing exists.</a:t>
            </a:r>
            <a:endParaRPr lang="en-US" sz="1400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1C2026"/>
                </a:solidFill>
                <a:latin typeface="Aptos"/>
              </a:defRPr>
            </a:pPr>
            <a:r>
              <a:rPr lang="en-US" sz="1400" dirty="0"/>
              <a:t>Availability of a </a:t>
            </a:r>
            <a:r>
              <a:rPr lang="en-US" sz="1400"/>
              <a:t>sandbox for </a:t>
            </a:r>
            <a:r>
              <a:rPr lang="en-US" sz="1400" dirty="0"/>
              <a:t>rapid iteration from feature branches for quick testing</a:t>
            </a:r>
            <a:endParaRPr sz="1400" dirty="0"/>
          </a:p>
        </p:txBody>
      </p:sp>
      <p:sp>
        <p:nvSpPr>
          <p:cNvPr id="45" name="Rectangle 44"/>
          <p:cNvSpPr/>
          <p:nvPr/>
        </p:nvSpPr>
        <p:spPr>
          <a:xfrm>
            <a:off x="320040" y="6382511"/>
            <a:ext cx="11414760" cy="461665"/>
          </a:xfrm>
          <a:prstGeom prst="rect">
            <a:avLst/>
          </a:prstGeom>
          <a:solidFill>
            <a:srgbClr val="0C2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6400800"/>
            <a:ext cx="11099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ptos"/>
              </a:rPr>
              <a:t>Keep the develop branch as interim model, then for long-term, isolate shared-module consumption through explicit versioning rather than shared local branch contents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C2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Interim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79552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C4E0FF"/>
                </a:solidFill>
                <a:latin typeface="Aptos"/>
              </a:rPr>
              <a:t>Balancing immediate engineering velocity with stronger control on higher environments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21792"/>
            <a:ext cx="594360" cy="3657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684866"/>
            <a:ext cx="5248656" cy="3984413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5394960" cy="292608"/>
          </a:xfrm>
          <a:prstGeom prst="rect">
            <a:avLst/>
          </a:prstGeom>
          <a:solidFill>
            <a:srgbClr val="0C2A61"/>
          </a:solidFill>
          <a:ln>
            <a:solidFill>
              <a:srgbClr val="0C2A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179576"/>
            <a:ext cx="52486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develop branch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023532"/>
            <a:ext cx="4903555" cy="237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1C2026"/>
                </a:solidFill>
                <a:latin typeface="Aptos"/>
              </a:defRPr>
            </a:pPr>
            <a:r>
              <a:rPr dirty="0"/>
              <a:t>Environment scope: NP1 only.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1C2026"/>
                </a:solidFill>
                <a:latin typeface="Aptos"/>
              </a:defRPr>
            </a:pPr>
            <a:r>
              <a:rPr dirty="0"/>
              <a:t>PR required; self-approval allowed.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1C2026"/>
                </a:solidFill>
                <a:latin typeface="Aptos"/>
              </a:defRPr>
            </a:pPr>
            <a:r>
              <a:rPr dirty="0"/>
              <a:t>Intent: fast iteration and sandbox-like engineering velocity.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1C2026"/>
                </a:solidFill>
                <a:latin typeface="Aptos"/>
              </a:defRPr>
            </a:pPr>
            <a:r>
              <a:rPr dirty="0"/>
              <a:t>Required checks: Terraform validation, linting, and security checks on commits and PRs.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1C2026"/>
                </a:solidFill>
                <a:latin typeface="Aptos"/>
              </a:defRPr>
            </a:pPr>
            <a:r>
              <a:rPr dirty="0"/>
              <a:t>Rationale: speed up early infrastructure testing without weakening governance for production-capable code.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84866"/>
            <a:ext cx="5230368" cy="398441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143000"/>
            <a:ext cx="5394960" cy="292608"/>
          </a:xfrm>
          <a:prstGeom prst="rect">
            <a:avLst/>
          </a:prstGeom>
          <a:solidFill>
            <a:srgbClr val="0C2A61"/>
          </a:solidFill>
          <a:ln>
            <a:solidFill>
              <a:srgbClr val="0C2A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179576"/>
            <a:ext cx="52486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main branch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023532"/>
            <a:ext cx="5157216" cy="237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1C2026"/>
                </a:solidFill>
                <a:latin typeface="Aptos"/>
              </a:defRPr>
            </a:pPr>
            <a:r>
              <a:rPr dirty="0"/>
              <a:t>Environment scope: NP2, NP3, and PROD.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1C2026"/>
                </a:solidFill>
                <a:latin typeface="Aptos"/>
              </a:defRPr>
            </a:pPr>
            <a:r>
              <a:rPr dirty="0"/>
              <a:t>No self-approval; stricter reviewers and stronger security control.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1C2026"/>
                </a:solidFill>
                <a:latin typeface="Aptos"/>
              </a:defRPr>
            </a:pPr>
            <a:r>
              <a:rPr dirty="0"/>
              <a:t>Intent: production-ready code line and controlled promotion path.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1C2026"/>
                </a:solidFill>
                <a:latin typeface="Aptos"/>
              </a:defRPr>
            </a:pPr>
            <a:r>
              <a:rPr dirty="0"/>
              <a:t>Required checks: Terraform validation, linting, security checks, and stronger PR governance.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1C2026"/>
                </a:solidFill>
                <a:latin typeface="Aptos"/>
              </a:defRPr>
            </a:pPr>
            <a:r>
              <a:rPr dirty="0"/>
              <a:t>Anything merged to main should be suitable for higher-environment promotion.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6382512"/>
            <a:ext cx="11414760" cy="292608"/>
          </a:xfrm>
          <a:prstGeom prst="rect">
            <a:avLst/>
          </a:prstGeom>
          <a:solidFill>
            <a:srgbClr val="0C2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195615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FFFFFF"/>
                </a:solidFill>
                <a:latin typeface="Aptos"/>
              </a:rPr>
              <a:t>Near-future target: remove develop and move to a single protected trunk once sandbox testing exists and shared modules are complete enough for direct consumption.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C2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Three Options for Shared Module Versioning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79552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C4E0FF"/>
                </a:solidFill>
                <a:latin typeface="Aptos"/>
              </a:rPr>
              <a:t>Use the interim branch model now, but solve module isolation at the module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21792"/>
            <a:ext cx="594360" cy="3657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1480" y="1298448"/>
            <a:ext cx="3291840" cy="487375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3429000" cy="457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40932"/>
            <a:ext cx="31272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C2026"/>
                </a:solidFill>
                <a:latin typeface="Aptos"/>
              </a:rPr>
              <a:t>Option 1  Separate module repository </a:t>
            </a:r>
            <a:r>
              <a:rPr lang="en-US" sz="1400" b="1" dirty="0">
                <a:solidFill>
                  <a:srgbClr val="1C2026"/>
                </a:solidFill>
                <a:latin typeface="Aptos"/>
              </a:rPr>
              <a:t>and version in</a:t>
            </a:r>
            <a:r>
              <a:rPr sz="1400" b="1" dirty="0">
                <a:solidFill>
                  <a:srgbClr val="1C2026"/>
                </a:solidFill>
                <a:latin typeface="Aptos"/>
              </a:rPr>
              <a:t> HCP registry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46866"/>
            <a:ext cx="3058160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1C2026"/>
                </a:solidFill>
                <a:latin typeface="Aptos"/>
              </a:defRPr>
            </a:pPr>
            <a:r>
              <a:rPr dirty="0"/>
              <a:t>Private-registry </a:t>
            </a:r>
            <a:r>
              <a:rPr lang="en-US" dirty="0"/>
              <a:t>for shared or complete reusable </a:t>
            </a:r>
            <a:r>
              <a:rPr dirty="0"/>
              <a:t>modules</a:t>
            </a:r>
            <a:r>
              <a:rPr lang="en-US" dirty="0"/>
              <a:t> </a:t>
            </a:r>
            <a:r>
              <a:rPr dirty="0"/>
              <a:t>with explicit versions.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1C2026"/>
                </a:solidFill>
                <a:latin typeface="Aptos"/>
              </a:defRPr>
            </a:pPr>
            <a:r>
              <a:rPr dirty="0"/>
              <a:t>Strongest isolation between modules and environments.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1C2026"/>
                </a:solidFill>
                <a:latin typeface="Aptos"/>
              </a:defRPr>
            </a:pPr>
            <a:r>
              <a:rPr dirty="0"/>
              <a:t>Best for the long-term platform model.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1C2026"/>
                </a:solidFill>
                <a:latin typeface="Aptos"/>
              </a:defRPr>
            </a:pPr>
            <a:r>
              <a:rPr dirty="0"/>
              <a:t>Recommendation: best strategic target.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828032"/>
            <a:ext cx="2423160" cy="256032"/>
          </a:xfrm>
          <a:prstGeom prst="roundRect">
            <a:avLst/>
          </a:prstGeom>
          <a:solidFill>
            <a:srgbClr val="F0F9F4"/>
          </a:solidFill>
          <a:ln w="12700">
            <a:solidFill>
              <a:srgbClr val="52B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52B788"/>
                </a:solidFill>
                <a:latin typeface="Aptos"/>
              </a:rPr>
              <a:t>Best strategic target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42232" y="1298448"/>
            <a:ext cx="3429000" cy="4873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42232" y="1143000"/>
            <a:ext cx="3429000" cy="45720"/>
          </a:xfrm>
          <a:prstGeom prst="rect">
            <a:avLst/>
          </a:prstGeom>
          <a:solidFill>
            <a:srgbClr val="E4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9392" y="1463040"/>
            <a:ext cx="31272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C2026"/>
                </a:solidFill>
                <a:latin typeface="Aptos"/>
              </a:rPr>
              <a:t>Option 2  Same repository </a:t>
            </a:r>
            <a:r>
              <a:rPr lang="en-US" sz="1400" b="1" dirty="0">
                <a:solidFill>
                  <a:srgbClr val="1C2026"/>
                </a:solidFill>
                <a:latin typeface="Aptos"/>
              </a:rPr>
              <a:t>and use</a:t>
            </a:r>
            <a:r>
              <a:rPr sz="1400" b="1" dirty="0">
                <a:solidFill>
                  <a:srgbClr val="1C2026"/>
                </a:solidFill>
                <a:latin typeface="Aptos"/>
              </a:rPr>
              <a:t> Git-tagged module refs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2446866"/>
            <a:ext cx="3061208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1C2026"/>
                </a:solidFill>
                <a:latin typeface="Aptos"/>
              </a:defRPr>
            </a:pPr>
            <a:r>
              <a:rPr dirty="0"/>
              <a:t>Reference modules through Git URLs with pinned tags or refs.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1C2026"/>
                </a:solidFill>
                <a:latin typeface="Aptos"/>
              </a:defRPr>
            </a:pPr>
            <a:r>
              <a:rPr dirty="0"/>
              <a:t>No repo split required immediately.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1C2026"/>
                </a:solidFill>
                <a:latin typeface="Aptos"/>
              </a:defRPr>
            </a:pPr>
            <a:r>
              <a:rPr dirty="0"/>
              <a:t>Good transitional design from local paths.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1C2026"/>
                </a:solidFill>
                <a:latin typeface="Aptos"/>
              </a:defRPr>
            </a:pPr>
            <a:r>
              <a:rPr dirty="0"/>
              <a:t>Recommendation: acceptable short-term bridge.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45152" y="4828032"/>
            <a:ext cx="2423160" cy="256032"/>
          </a:xfrm>
          <a:prstGeom prst="roundRect">
            <a:avLst/>
          </a:prstGeom>
          <a:solidFill>
            <a:srgbClr val="FFF9EC"/>
          </a:solidFill>
          <a:ln w="12700">
            <a:solidFill>
              <a:srgbClr val="E4B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45152" y="4855464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E4B33F"/>
                </a:solidFill>
                <a:latin typeface="Aptos"/>
              </a:rPr>
              <a:t>Acceptable short-term bridge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72983" y="1298448"/>
            <a:ext cx="3429000" cy="4873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72983" y="1143000"/>
            <a:ext cx="3429000" cy="45720"/>
          </a:xfrm>
          <a:prstGeom prst="rect">
            <a:avLst/>
          </a:prstGeom>
          <a:solidFill>
            <a:srgbClr val="D5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10142" y="1463040"/>
            <a:ext cx="31912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C2026"/>
                </a:solidFill>
                <a:latin typeface="Aptos"/>
              </a:rPr>
              <a:t>Option 3  Branch-based module consumption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0143" y="2446866"/>
            <a:ext cx="3072724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1C2026"/>
                </a:solidFill>
                <a:latin typeface="Aptos"/>
              </a:defRPr>
            </a:pPr>
            <a:r>
              <a:rPr dirty="0"/>
              <a:t>Use develop </a:t>
            </a:r>
            <a:r>
              <a:rPr lang="en-US" dirty="0"/>
              <a:t>branch </a:t>
            </a:r>
            <a:r>
              <a:rPr dirty="0"/>
              <a:t>for non-prod and main for PROD module consumption.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1C2026"/>
                </a:solidFill>
                <a:latin typeface="Aptos"/>
              </a:defRPr>
            </a:pPr>
            <a:r>
              <a:rPr dirty="0"/>
              <a:t>Relies on mutable branches rather than immutable releases.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1C2026"/>
                </a:solidFill>
                <a:latin typeface="Aptos"/>
              </a:defRPr>
            </a:pPr>
            <a:r>
              <a:rPr lang="en-US" dirty="0"/>
              <a:t>Likely chance of</a:t>
            </a:r>
            <a:r>
              <a:rPr dirty="0"/>
              <a:t> drift and audit risk.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1C2026"/>
                </a:solidFill>
                <a:latin typeface="Aptos"/>
              </a:defRPr>
            </a:pPr>
            <a:r>
              <a:rPr dirty="0"/>
              <a:t>Recommendation: fallback </a:t>
            </a:r>
            <a:r>
              <a:rPr lang="en-US" dirty="0"/>
              <a:t>solution till a sandbox environment is available and also to avoid immediate code refactor</a:t>
            </a:r>
            <a:r>
              <a:rPr dirty="0"/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75903" y="4828032"/>
            <a:ext cx="2423160" cy="256032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D55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5297" y="4855464"/>
            <a:ext cx="216437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dirty="0">
                <a:solidFill>
                  <a:srgbClr val="D55E5E"/>
                </a:solidFill>
                <a:latin typeface="Aptos"/>
              </a:rPr>
              <a:t>Avoid </a:t>
            </a:r>
            <a:r>
              <a:rPr lang="en-US" sz="1000" b="1" dirty="0">
                <a:solidFill>
                  <a:srgbClr val="D55E5E"/>
                </a:solidFill>
                <a:latin typeface="Aptos"/>
              </a:rPr>
              <a:t>for use as a long-term</a:t>
            </a:r>
            <a:r>
              <a:rPr sz="1000" b="1" dirty="0">
                <a:solidFill>
                  <a:srgbClr val="D55E5E"/>
                </a:solidFill>
                <a:latin typeface="Aptos"/>
              </a:rPr>
              <a:t> target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39" y="6382512"/>
            <a:ext cx="11533294" cy="446068"/>
          </a:xfrm>
          <a:prstGeom prst="rect">
            <a:avLst/>
          </a:prstGeom>
          <a:solidFill>
            <a:srgbClr val="0C2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199" y="6400799"/>
            <a:ext cx="111167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FFFFFF"/>
                </a:solidFill>
                <a:latin typeface="Aptos"/>
              </a:rPr>
              <a:t>Module engineering priority: expand the private module catalog so common patterns such as app service + private endpoint are usable directly without local wrapper chains.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C2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Why Removing Local Shared-Module Consumption Is Better Than Relying on 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79552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C4E0FF"/>
                </a:solidFill>
                <a:latin typeface="Aptos"/>
              </a:rPr>
              <a:t>Branch separation manages exposure; versioning solves the problem at the correct architectural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21792"/>
            <a:ext cx="594360" cy="3657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889284"/>
              </p:ext>
            </p:extLst>
          </p:nvPr>
        </p:nvGraphicFramePr>
        <p:xfrm>
          <a:off x="457200" y="123444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Decision criterion</a:t>
                      </a:r>
                    </a:p>
                  </a:txBody>
                  <a:tcPr>
                    <a:solidFill>
                      <a:srgbClr val="0C2A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ptos"/>
                        </a:rPr>
                        <a:t>Versioned private-registry 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/>
                        </a:rPr>
                        <a:t>shared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Aptos"/>
                        </a:rPr>
                        <a:t>modules</a:t>
                      </a:r>
                    </a:p>
                  </a:txBody>
                  <a:tcPr>
                    <a:solidFill>
                      <a:srgbClr val="0C2A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develop/main branch separation</a:t>
                      </a:r>
                    </a:p>
                  </a:txBody>
                  <a:tcPr>
                    <a:solidFill>
                      <a:srgbClr val="0C2A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026"/>
                          </a:solidFill>
                          <a:latin typeface="Aptos"/>
                        </a:rPr>
                        <a:t>Production hotfix isolation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026"/>
                          </a:solidFill>
                          <a:latin typeface="Aptos"/>
                        </a:rPr>
                        <a:t>PROD stays pinned to an approved module 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026"/>
                          </a:solidFill>
                          <a:latin typeface="Aptos"/>
                        </a:rPr>
                        <a:t>PROD consumes whatever main currently contains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026"/>
                          </a:solidFill>
                          <a:latin typeface="Aptos"/>
                        </a:rPr>
                        <a:t>Promotion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026"/>
                          </a:solidFill>
                          <a:latin typeface="Aptos"/>
                        </a:rPr>
                        <a:t>Explicit, reviewed version bump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026"/>
                          </a:solidFill>
                          <a:latin typeface="Aptos"/>
                        </a:rPr>
                        <a:t>Implicit through branch contents and merge timing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026"/>
                          </a:solidFill>
                          <a:latin typeface="Aptos"/>
                        </a:rPr>
                        <a:t>Auditability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026"/>
                          </a:solidFill>
                          <a:latin typeface="Aptos"/>
                        </a:rPr>
                        <a:t>Clear release history per module 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026"/>
                          </a:solidFill>
                          <a:latin typeface="Aptos"/>
                        </a:rPr>
                        <a:t>Depends on branch history and merge discipline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026"/>
                          </a:solidFill>
                          <a:latin typeface="Aptos"/>
                        </a:rPr>
                        <a:t>Scale as platform grows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C2026"/>
                          </a:solidFill>
                          <a:latin typeface="Aptos"/>
                        </a:rPr>
                        <a:t>Strong reusable catalog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C2026"/>
                          </a:solidFill>
                          <a:latin typeface="Aptos"/>
                        </a:rPr>
                        <a:t>Weaker</a:t>
                      </a:r>
                      <a:r>
                        <a:rPr lang="en-US" sz="1200" b="0" dirty="0">
                          <a:solidFill>
                            <a:srgbClr val="1C2026"/>
                          </a:solidFill>
                          <a:latin typeface="Aptos"/>
                        </a:rPr>
                        <a:t> </a:t>
                      </a:r>
                      <a:r>
                        <a:rPr sz="1200" b="0" dirty="0">
                          <a:solidFill>
                            <a:srgbClr val="1C2026"/>
                          </a:solidFill>
                          <a:latin typeface="Aptos"/>
                        </a:rPr>
                        <a:t>more branch </a:t>
                      </a:r>
                      <a:r>
                        <a:rPr lang="en-US" sz="1200" b="0" dirty="0">
                          <a:solidFill>
                            <a:srgbClr val="1C2026"/>
                          </a:solidFill>
                          <a:latin typeface="Aptos"/>
                        </a:rPr>
                        <a:t>management</a:t>
                      </a:r>
                      <a:r>
                        <a:rPr sz="1200" b="0" dirty="0">
                          <a:solidFill>
                            <a:srgbClr val="1C2026"/>
                          </a:solidFill>
                          <a:latin typeface="Aptos"/>
                        </a:rPr>
                        <a:t> and </a:t>
                      </a:r>
                      <a:r>
                        <a:rPr lang="en-US" sz="1200" b="0" dirty="0">
                          <a:solidFill>
                            <a:srgbClr val="1C2026"/>
                          </a:solidFill>
                          <a:latin typeface="Aptos"/>
                        </a:rPr>
                        <a:t>code conflict</a:t>
                      </a:r>
                      <a:r>
                        <a:rPr sz="1200" b="0" dirty="0">
                          <a:solidFill>
                            <a:srgbClr val="1C2026"/>
                          </a:solidFill>
                          <a:latin typeface="Aptos"/>
                        </a:rPr>
                        <a:t>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026"/>
                          </a:solidFill>
                          <a:latin typeface="Aptos"/>
                        </a:rPr>
                        <a:t>Strategic fit with trunk-based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026"/>
                          </a:solidFill>
                          <a:latin typeface="Aptos"/>
                        </a:rPr>
                        <a:t>Directly aligned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C2026"/>
                          </a:solidFill>
                          <a:latin typeface="Aptos"/>
                        </a:rPr>
                        <a:t>Interim control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577840"/>
            <a:ext cx="4663440" cy="310896"/>
          </a:xfrm>
          <a:prstGeom prst="roundRect">
            <a:avLst/>
          </a:prstGeom>
          <a:solidFill>
            <a:srgbClr val="F0F9F4"/>
          </a:solidFill>
          <a:ln w="12700">
            <a:solidFill>
              <a:srgbClr val="52B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5614416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 dirty="0">
                <a:solidFill>
                  <a:srgbClr val="52B788"/>
                </a:solidFill>
                <a:latin typeface="Aptos"/>
              </a:rPr>
              <a:t>Option 1 solves the issue where it originates: the shared module lifecycle.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5577840"/>
            <a:ext cx="4663440" cy="310896"/>
          </a:xfrm>
          <a:prstGeom prst="roundRect">
            <a:avLst/>
          </a:prstGeom>
          <a:solidFill>
            <a:srgbClr val="FFF9EC"/>
          </a:solidFill>
          <a:ln w="12700">
            <a:solidFill>
              <a:srgbClr val="E4B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0" y="5560226"/>
            <a:ext cx="49022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dirty="0">
                <a:solidFill>
                  <a:srgbClr val="E4B33F"/>
                </a:solidFill>
                <a:latin typeface="Aptos"/>
              </a:rPr>
              <a:t>Branch separation remains useful as an interim operating control, but it does not replace module versioning.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C2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PR Governance, Branch Protection, and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79552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C4E0FF"/>
                </a:solidFill>
                <a:latin typeface="Aptos"/>
              </a:rPr>
              <a:t>Controls to standardize across repositories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21792"/>
            <a:ext cx="594360" cy="3657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1737360"/>
            <a:ext cx="3785616" cy="4434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657600" cy="292608"/>
          </a:xfrm>
          <a:prstGeom prst="rect">
            <a:avLst/>
          </a:prstGeom>
          <a:solidFill>
            <a:srgbClr val="0C2A61"/>
          </a:solidFill>
          <a:ln>
            <a:solidFill>
              <a:srgbClr val="0C2A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" y="1271016"/>
            <a:ext cx="3511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PR governance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133600"/>
            <a:ext cx="34198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1C2026"/>
                </a:solidFill>
                <a:latin typeface="Aptos"/>
              </a:defRPr>
            </a:pPr>
            <a:r>
              <a:rPr dirty="0"/>
              <a:t>PR required on develop and main.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1C2026"/>
                </a:solidFill>
                <a:latin typeface="Aptos"/>
              </a:defRPr>
            </a:pPr>
            <a:r>
              <a:rPr dirty="0"/>
              <a:t>Self-approval allowed on develop only.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1C2026"/>
                </a:solidFill>
                <a:latin typeface="Aptos"/>
              </a:defRPr>
            </a:pPr>
            <a:r>
              <a:rPr dirty="0"/>
              <a:t>No self-approval on main; stricter reviewers for production-affecting changes.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1C2026"/>
                </a:solidFill>
                <a:latin typeface="Aptos"/>
              </a:defRPr>
            </a:pPr>
            <a:r>
              <a:rPr dirty="0"/>
              <a:t>Reset approvals when new commits are pushed.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737360"/>
            <a:ext cx="3657600" cy="4434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70248" y="1234440"/>
            <a:ext cx="3657600" cy="292608"/>
          </a:xfrm>
          <a:prstGeom prst="rect">
            <a:avLst/>
          </a:prstGeom>
          <a:solidFill>
            <a:srgbClr val="0C2A61"/>
          </a:solidFill>
          <a:ln>
            <a:solidFill>
              <a:srgbClr val="0C2A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1271016"/>
            <a:ext cx="3511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FFFFFF"/>
                </a:solidFill>
                <a:latin typeface="Aptos"/>
              </a:rPr>
              <a:t>Branch protection standard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33600"/>
            <a:ext cx="3419856" cy="2021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1C2026"/>
                </a:solidFill>
                <a:latin typeface="Aptos"/>
              </a:defRPr>
            </a:pPr>
            <a:r>
              <a:rPr dirty="0"/>
              <a:t>No direct commits to main.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1C2026"/>
                </a:solidFill>
                <a:latin typeface="Aptos"/>
              </a:defRPr>
            </a:pPr>
            <a:r>
              <a:rPr dirty="0"/>
              <a:t>Successful build required before merge to main.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1C2026"/>
                </a:solidFill>
                <a:latin typeface="Aptos"/>
              </a:defRPr>
            </a:pPr>
            <a:r>
              <a:rPr dirty="0"/>
              <a:t>All comments resolved before completion.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1C2026"/>
                </a:solidFill>
                <a:latin typeface="Aptos"/>
              </a:defRPr>
            </a:pPr>
            <a:r>
              <a:rPr dirty="0"/>
              <a:t>Squash merge by default.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1C2026"/>
                </a:solidFill>
                <a:latin typeface="Aptos"/>
              </a:defRPr>
            </a:pPr>
            <a:r>
              <a:rPr dirty="0"/>
              <a:t>Path-based or role-based reviewers for </a:t>
            </a:r>
            <a:r>
              <a:rPr lang="en-US" dirty="0"/>
              <a:t>prod workspaces/environments</a:t>
            </a:r>
            <a:r>
              <a:rPr dirty="0"/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0456" y="1737360"/>
            <a:ext cx="3657600" cy="4434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0456" y="1234440"/>
            <a:ext cx="3648456" cy="292608"/>
          </a:xfrm>
          <a:prstGeom prst="rect">
            <a:avLst/>
          </a:prstGeom>
          <a:solidFill>
            <a:srgbClr val="0C2A61"/>
          </a:solidFill>
          <a:ln>
            <a:solidFill>
              <a:srgbClr val="0C2A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271016"/>
            <a:ext cx="35021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Validation and security 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133600"/>
            <a:ext cx="3483864" cy="1897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1C2026"/>
                </a:solidFill>
                <a:latin typeface="Aptos"/>
              </a:defRPr>
            </a:pPr>
            <a:r>
              <a:rPr dirty="0"/>
              <a:t>terraform fmt -check, validate, and tflint on commits and PRs.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1C2026"/>
                </a:solidFill>
                <a:latin typeface="Aptos"/>
              </a:defRPr>
            </a:pPr>
            <a:r>
              <a:rPr dirty="0"/>
              <a:t>Secrets scanning on commits and PRs.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1C2026"/>
                </a:solidFill>
                <a:latin typeface="Aptos"/>
              </a:defRPr>
            </a:pPr>
            <a:r>
              <a:rPr dirty="0" err="1"/>
              <a:t>IaC</a:t>
            </a:r>
            <a:r>
              <a:rPr dirty="0"/>
              <a:t> security scanning on commits and PRs.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1C2026"/>
                </a:solidFill>
                <a:latin typeface="Aptos"/>
              </a:defRPr>
            </a:pPr>
            <a:r>
              <a:rPr dirty="0"/>
              <a:t>HCP speculative plans for PR review.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1C2026"/>
                </a:solidFill>
                <a:latin typeface="Aptos"/>
              </a:defRPr>
            </a:pPr>
            <a:r>
              <a:rPr dirty="0"/>
              <a:t>Standardized PR template enforced on new and existing repos.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39" y="6382511"/>
            <a:ext cx="11414761" cy="276999"/>
          </a:xfrm>
          <a:prstGeom prst="rect">
            <a:avLst/>
          </a:prstGeom>
          <a:solidFill>
            <a:srgbClr val="0C2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199" y="6400800"/>
            <a:ext cx="111167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FFFFFF"/>
                </a:solidFill>
                <a:latin typeface="Aptos"/>
              </a:rPr>
              <a:t>Branch policy and PR template enforcement should be automated through repository bootstrap, not recreated manually per repo.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C2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PR Template Standard and Repository Bootstrap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79552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C4E0FF"/>
                </a:solidFill>
                <a:latin typeface="Aptos"/>
              </a:rPr>
              <a:t>Standardize controls once; inherit them everywhere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21792"/>
            <a:ext cx="594360" cy="3657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545336"/>
            <a:ext cx="5303520" cy="435254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5303520" cy="292608"/>
          </a:xfrm>
          <a:prstGeom prst="rect">
            <a:avLst/>
          </a:prstGeom>
          <a:solidFill>
            <a:srgbClr val="0C2A61"/>
          </a:solidFill>
          <a:ln>
            <a:solidFill>
              <a:srgbClr val="0C2A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225296"/>
            <a:ext cx="5157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PR template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38528"/>
            <a:ext cx="4993604" cy="229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1C2026"/>
                </a:solidFill>
                <a:latin typeface="Aptos"/>
              </a:defRPr>
            </a:pPr>
            <a:r>
              <a:rPr dirty="0"/>
              <a:t>risk / impact summary.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1C2026"/>
                </a:solidFill>
                <a:latin typeface="Aptos"/>
              </a:defRPr>
            </a:pPr>
            <a:r>
              <a:rPr dirty="0"/>
              <a:t>Validation performed</a:t>
            </a:r>
            <a:r>
              <a:rPr lang="en-US" dirty="0"/>
              <a:t>/mitigation strategy</a:t>
            </a:r>
            <a:r>
              <a:rPr dirty="0"/>
              <a:t>.</a:t>
            </a:r>
            <a:endParaRPr lang="en-US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1C2026"/>
                </a:solidFill>
                <a:latin typeface="Aptos"/>
              </a:defRPr>
            </a:pPr>
            <a:r>
              <a:rPr lang="en-US" dirty="0"/>
              <a:t>Change Type (classification)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1C2026"/>
                </a:solidFill>
                <a:latin typeface="Aptos"/>
              </a:defRPr>
            </a:pPr>
            <a:r>
              <a:rPr lang="en-US" dirty="0"/>
              <a:t>Resources affected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1C2026"/>
                </a:solidFill>
                <a:latin typeface="Aptos"/>
              </a:defRPr>
            </a:pPr>
            <a:r>
              <a:rPr dirty="0"/>
              <a:t>Work item linkage.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1C2026"/>
                </a:solidFill>
                <a:latin typeface="Aptos"/>
              </a:defRPr>
            </a:pPr>
            <a:r>
              <a:rPr dirty="0" err="1"/>
              <a:t>IaC</a:t>
            </a:r>
            <a:r>
              <a:rPr lang="en-US" dirty="0"/>
              <a:t> validation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1C2026"/>
                </a:solidFill>
                <a:latin typeface="Aptos"/>
              </a:defRPr>
            </a:pPr>
            <a:r>
              <a:rPr lang="en-US" dirty="0"/>
              <a:t>Security and compliance</a:t>
            </a:r>
            <a:r>
              <a:rPr dirty="0"/>
              <a:t>.</a:t>
            </a:r>
            <a:endParaRPr lang="en-US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1C2026"/>
                </a:solidFill>
                <a:latin typeface="Aptos"/>
              </a:defRPr>
            </a:pPr>
            <a:r>
              <a:rPr lang="en-US" dirty="0"/>
              <a:t>Environment scope and Deployment impact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355080" y="1545336"/>
            <a:ext cx="5230368" cy="435254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188720"/>
            <a:ext cx="5303520" cy="292608"/>
          </a:xfrm>
          <a:prstGeom prst="rect">
            <a:avLst/>
          </a:prstGeom>
          <a:solidFill>
            <a:srgbClr val="0C2A61"/>
          </a:solidFill>
          <a:ln>
            <a:solidFill>
              <a:srgbClr val="0C2A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225296"/>
            <a:ext cx="5157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Bootstrap standard for new repos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938528"/>
            <a:ext cx="4959096" cy="180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1C2026"/>
                </a:solidFill>
                <a:latin typeface="Aptos"/>
              </a:defRPr>
            </a:pPr>
            <a:r>
              <a:rPr dirty="0"/>
              <a:t>Repository creation workflow applies default branch protections automatically.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1C2026"/>
                </a:solidFill>
                <a:latin typeface="Aptos"/>
              </a:defRPr>
            </a:pPr>
            <a:r>
              <a:rPr dirty="0"/>
              <a:t>Standard PR template is added at creation time.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1C2026"/>
                </a:solidFill>
                <a:latin typeface="Aptos"/>
              </a:defRPr>
            </a:pPr>
            <a:r>
              <a:rPr dirty="0"/>
              <a:t>Reusable validation pipeline is linked by default.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1C2026"/>
                </a:solidFill>
                <a:latin typeface="Aptos"/>
              </a:defRPr>
            </a:pPr>
            <a:r>
              <a:rPr dirty="0"/>
              <a:t>Main branch receives stricter policy set than develop.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1C2026"/>
                </a:solidFill>
                <a:latin typeface="Aptos"/>
              </a:defRPr>
            </a:pPr>
            <a:r>
              <a:rPr dirty="0"/>
              <a:t>Existing repositories are remediated to the same baseline through an enablement backlog.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5961888"/>
            <a:ext cx="806631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0C2A61"/>
                </a:solidFill>
                <a:latin typeface="Aptos"/>
              </a:rPr>
              <a:t>Bootstrap once  →  inherit governance everywhere  →  reduce repo-by-repo drift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C2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Recommended Roadmap and Final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79552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C4E0FF"/>
                </a:solidFill>
                <a:latin typeface="Aptos"/>
              </a:rPr>
              <a:t>Operate safely now, then converge on a cleaner trunk-based platform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21792"/>
            <a:ext cx="594360" cy="3657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298447"/>
            <a:ext cx="1920240" cy="1307587"/>
          </a:xfrm>
          <a:prstGeom prst="rect">
            <a:avLst/>
          </a:prstGeom>
          <a:solidFill>
            <a:srgbClr val="FFFFFF"/>
          </a:solidFill>
          <a:ln w="13970">
            <a:solidFill>
              <a:srgbClr val="D2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920240" cy="292608"/>
          </a:xfrm>
          <a:prstGeom prst="rect">
            <a:avLst/>
          </a:prstGeom>
          <a:solidFill>
            <a:srgbClr val="0C2A61"/>
          </a:solidFill>
          <a:ln>
            <a:solidFill>
              <a:srgbClr val="0C2A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335024"/>
            <a:ext cx="1773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700784"/>
            <a:ext cx="159105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C2026"/>
                </a:solidFill>
                <a:latin typeface="Aptos"/>
              </a:defRPr>
            </a:pPr>
            <a:r>
              <a:rPr dirty="0"/>
              <a:t>Keep develop/main with</a:t>
            </a:r>
            <a:br>
              <a:rPr dirty="0"/>
            </a:br>
            <a:r>
              <a:rPr dirty="0"/>
              <a:t>NP1 on develop and</a:t>
            </a:r>
            <a:br>
              <a:rPr dirty="0"/>
            </a:br>
            <a:r>
              <a:rPr dirty="0"/>
              <a:t>NP2/NP3/PROD on main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1298447"/>
            <a:ext cx="1993392" cy="1307575"/>
          </a:xfrm>
          <a:prstGeom prst="rect">
            <a:avLst/>
          </a:prstGeom>
          <a:solidFill>
            <a:srgbClr val="FFFFFF"/>
          </a:solidFill>
          <a:ln w="13970">
            <a:solidFill>
              <a:srgbClr val="D2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97480" y="1298448"/>
            <a:ext cx="1920240" cy="292608"/>
          </a:xfrm>
          <a:prstGeom prst="rect">
            <a:avLst/>
          </a:prstGeom>
          <a:solidFill>
            <a:srgbClr val="0C2A61"/>
          </a:solidFill>
          <a:ln>
            <a:solidFill>
              <a:srgbClr val="0C2A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70632" y="1335024"/>
            <a:ext cx="1773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2" y="1700784"/>
            <a:ext cx="159105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C2026"/>
                </a:solidFill>
                <a:latin typeface="Aptos"/>
              </a:defRPr>
            </a:pPr>
            <a:r>
              <a:rPr dirty="0"/>
              <a:t>Standardize PR template,</a:t>
            </a:r>
            <a:br>
              <a:rPr dirty="0"/>
            </a:br>
            <a:r>
              <a:rPr dirty="0"/>
              <a:t>branch protection,</a:t>
            </a:r>
            <a:br>
              <a:rPr dirty="0"/>
            </a:br>
            <a:r>
              <a:rPr dirty="0"/>
              <a:t>validation, and security</a:t>
            </a:r>
            <a:br>
              <a:rPr dirty="0"/>
            </a:br>
            <a:r>
              <a:rPr dirty="0"/>
              <a:t>gates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80" y="1298447"/>
            <a:ext cx="1920240" cy="1307573"/>
          </a:xfrm>
          <a:prstGeom prst="rect">
            <a:avLst/>
          </a:prstGeom>
          <a:solidFill>
            <a:srgbClr val="FFFFFF"/>
          </a:solidFill>
          <a:ln w="13970">
            <a:solidFill>
              <a:srgbClr val="D2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83480" y="1298448"/>
            <a:ext cx="1920240" cy="292608"/>
          </a:xfrm>
          <a:prstGeom prst="rect">
            <a:avLst/>
          </a:prstGeom>
          <a:solidFill>
            <a:srgbClr val="0C2A61"/>
          </a:solidFill>
          <a:ln>
            <a:solidFill>
              <a:srgbClr val="0C2A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56632" y="1335024"/>
            <a:ext cx="1773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Then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072" y="1700784"/>
            <a:ext cx="159105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C2026"/>
                </a:solidFill>
                <a:latin typeface="Aptos"/>
              </a:defRPr>
            </a:pPr>
            <a:r>
              <a:t>Version shared modules;</a:t>
            </a:r>
            <a:br/>
            <a:r>
              <a:t>use Option 2 as bridge if needed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1298447"/>
            <a:ext cx="1920240" cy="1307569"/>
          </a:xfrm>
          <a:prstGeom prst="rect">
            <a:avLst/>
          </a:prstGeom>
          <a:solidFill>
            <a:srgbClr val="FFFFFF"/>
          </a:solidFill>
          <a:ln w="13970">
            <a:solidFill>
              <a:srgbClr val="D2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69480" y="1298448"/>
            <a:ext cx="1920240" cy="292608"/>
          </a:xfrm>
          <a:prstGeom prst="rect">
            <a:avLst/>
          </a:prstGeom>
          <a:solidFill>
            <a:srgbClr val="0C2A61"/>
          </a:solidFill>
          <a:ln>
            <a:solidFill>
              <a:srgbClr val="0C2A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42632" y="1335024"/>
            <a:ext cx="1773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Later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2" y="1700784"/>
            <a:ext cx="159105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C2026"/>
                </a:solidFill>
                <a:latin typeface="Aptos"/>
              </a:defRPr>
            </a:pPr>
            <a:r>
              <a:t>Retire local wrappers as</a:t>
            </a:r>
            <a:br/>
            <a:r>
              <a:t>module completeness</a:t>
            </a:r>
            <a:br/>
            <a:r>
              <a:t>enables direct registry</a:t>
            </a:r>
            <a:br/>
            <a:r>
              <a:t>consumption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55480" y="1298447"/>
            <a:ext cx="1938528" cy="1307567"/>
          </a:xfrm>
          <a:prstGeom prst="rect">
            <a:avLst/>
          </a:prstGeom>
          <a:solidFill>
            <a:srgbClr val="FFFFFF"/>
          </a:solidFill>
          <a:ln w="13970">
            <a:solidFill>
              <a:srgbClr val="D2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555480" y="1298448"/>
            <a:ext cx="1920240" cy="292608"/>
          </a:xfrm>
          <a:prstGeom prst="rect">
            <a:avLst/>
          </a:prstGeom>
          <a:solidFill>
            <a:srgbClr val="52B788"/>
          </a:solidFill>
          <a:ln>
            <a:solidFill>
              <a:srgbClr val="52B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28632" y="1335024"/>
            <a:ext cx="1773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End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72" y="1700784"/>
            <a:ext cx="159105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C2026"/>
                </a:solidFill>
                <a:latin typeface="Aptos"/>
              </a:defRPr>
            </a:pPr>
            <a:r>
              <a:rPr dirty="0"/>
              <a:t>Single protected trunk +</a:t>
            </a:r>
            <a:br>
              <a:rPr dirty="0"/>
            </a:br>
            <a:r>
              <a:rPr dirty="0"/>
              <a:t>versioned modules +</a:t>
            </a:r>
            <a:br>
              <a:rPr dirty="0"/>
            </a:br>
            <a:r>
              <a:rPr dirty="0"/>
              <a:t>sandbox path for rapid</a:t>
            </a:r>
            <a:br>
              <a:rPr dirty="0"/>
            </a:br>
            <a:r>
              <a:rPr dirty="0"/>
              <a:t>testing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331720" y="1810512"/>
            <a:ext cx="292608" cy="0"/>
          </a:xfrm>
          <a:prstGeom prst="line">
            <a:avLst/>
          </a:prstGeom>
          <a:ln w="3175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617720" y="1810512"/>
            <a:ext cx="292608" cy="0"/>
          </a:xfrm>
          <a:prstGeom prst="line">
            <a:avLst/>
          </a:prstGeom>
          <a:ln w="3175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903720" y="1810512"/>
            <a:ext cx="292608" cy="0"/>
          </a:xfrm>
          <a:prstGeom prst="line">
            <a:avLst/>
          </a:prstGeom>
          <a:ln w="3175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89720" y="1810512"/>
            <a:ext cx="292608" cy="0"/>
          </a:xfrm>
          <a:prstGeom prst="line">
            <a:avLst/>
          </a:prstGeom>
          <a:ln w="3175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40080" y="2743200"/>
            <a:ext cx="10927080" cy="1706336"/>
          </a:xfrm>
          <a:prstGeom prst="rect">
            <a:avLst/>
          </a:prstGeom>
          <a:solidFill>
            <a:srgbClr val="FFFFFF"/>
          </a:solidFill>
          <a:ln w="13970">
            <a:solidFill>
              <a:srgbClr val="D2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2743200"/>
            <a:ext cx="10927080" cy="292608"/>
          </a:xfrm>
          <a:prstGeom prst="rect">
            <a:avLst/>
          </a:prstGeom>
          <a:solidFill>
            <a:srgbClr val="0C2A61"/>
          </a:solidFill>
          <a:ln>
            <a:solidFill>
              <a:srgbClr val="0C2A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2" y="2779776"/>
            <a:ext cx="107807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Final recommendation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3145536"/>
            <a:ext cx="10671048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C2026"/>
                </a:solidFill>
                <a:latin typeface="Aptos"/>
              </a:defRPr>
            </a:pPr>
            <a:r>
              <a:rPr dirty="0"/>
              <a:t>Keep the approved interim branch model now, but do not rely on branch geography to isolate shared modules.</a:t>
            </a:r>
          </a:p>
          <a:p>
            <a:pPr>
              <a:spcAft>
                <a:spcPts val="400"/>
              </a:spcAft>
              <a:defRPr sz="1400">
                <a:solidFill>
                  <a:srgbClr val="1C2026"/>
                </a:solidFill>
                <a:latin typeface="Aptos"/>
              </a:defRPr>
            </a:pPr>
            <a:r>
              <a:rPr dirty="0"/>
              <a:t>Start moving to explicit module versioning immediately, with HCP private-registry </a:t>
            </a:r>
            <a:r>
              <a:rPr lang="en-US" dirty="0"/>
              <a:t>shared </a:t>
            </a:r>
            <a:r>
              <a:rPr dirty="0"/>
              <a:t>modules as the preferred end state and</a:t>
            </a:r>
            <a:r>
              <a:rPr lang="en-US" dirty="0"/>
              <a:t>/or</a:t>
            </a:r>
            <a:r>
              <a:rPr dirty="0"/>
              <a:t> Git-tagged module refs as the transitional path if needed.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559552"/>
            <a:ext cx="3657600" cy="310896"/>
          </a:xfrm>
          <a:prstGeom prst="roundRect">
            <a:avLst/>
          </a:prstGeom>
          <a:solidFill>
            <a:srgbClr val="F0F9F4"/>
          </a:solidFill>
          <a:ln w="12700">
            <a:solidFill>
              <a:srgbClr val="52B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30537" y="5596128"/>
            <a:ext cx="2842446" cy="2337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19" b="1" dirty="0">
                <a:solidFill>
                  <a:srgbClr val="52B788"/>
                </a:solidFill>
                <a:latin typeface="Aptos"/>
              </a:rPr>
              <a:t>Best end state: versioned registry </a:t>
            </a:r>
            <a:r>
              <a:rPr lang="en-US" sz="919" b="1" dirty="0">
                <a:solidFill>
                  <a:srgbClr val="52B788"/>
                </a:solidFill>
                <a:latin typeface="Aptos"/>
              </a:rPr>
              <a:t>shared </a:t>
            </a:r>
            <a:r>
              <a:rPr sz="919" b="1" dirty="0">
                <a:solidFill>
                  <a:srgbClr val="52B788"/>
                </a:solidFill>
                <a:latin typeface="Aptos"/>
              </a:rPr>
              <a:t>modules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5559552"/>
            <a:ext cx="6400800" cy="310896"/>
          </a:xfrm>
          <a:prstGeom prst="roundRect">
            <a:avLst/>
          </a:prstGeom>
          <a:solidFill>
            <a:srgbClr val="FFF9EC"/>
          </a:solidFill>
          <a:ln w="12700">
            <a:solidFill>
              <a:srgbClr val="E4B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67324" y="5596128"/>
            <a:ext cx="6444393" cy="2337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19" b="1" dirty="0">
                <a:solidFill>
                  <a:srgbClr val="E4B33F"/>
                </a:solidFill>
                <a:latin typeface="Aptos"/>
              </a:rPr>
              <a:t>Fallback only: branch separation can bridge temporarily but should not become the permanent isolation mechanism.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4371</TotalTime>
  <Words>1342</Words>
  <Application>Microsoft Macintosh PowerPoint</Application>
  <PresentationFormat>Widescreen</PresentationFormat>
  <Paragraphs>169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Branching Strategy and Pull Request Sign-off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Lyonga, Charles</cp:lastModifiedBy>
  <cp:revision>16</cp:revision>
  <dcterms:created xsi:type="dcterms:W3CDTF">2013-01-27T09:14:16Z</dcterms:created>
  <dcterms:modified xsi:type="dcterms:W3CDTF">2026-05-07T13:31:16Z</dcterms:modified>
  <cp:category/>
</cp:coreProperties>
</file>